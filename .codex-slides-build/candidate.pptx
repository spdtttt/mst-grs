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a1d60e8e4a400b" /><Relationship Type="http://schemas.openxmlformats.org/officeDocument/2006/relationships/extended-properties" Target="/docProps/app.xml" Id="Rac7b7b6ccbae4cb9" /><Relationship Type="http://schemas.openxmlformats.org/officeDocument/2006/relationships/officeDocument" Target="/ppt/presentation.xml" Id="R658ae40ff4db43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5dd9428a19480c"/>
  </p:sldMasterIdLst>
  <p:notesMasterIdLst>
    <p:notesMasterId xmlns:r="http://schemas.openxmlformats.org/officeDocument/2006/relationships" r:id="Re7c2323482d94b8f"/>
  </p:notesMasterIdLst>
  <p:sldIdLst>
    <p:sldId xmlns:r="http://schemas.openxmlformats.org/officeDocument/2006/relationships" id="256" r:id="R2235a16197884416"/>
    <p:sldId xmlns:r="http://schemas.openxmlformats.org/officeDocument/2006/relationships" id="257" r:id="Rf3d0fca5a2264dee"/>
    <p:sldId xmlns:r="http://schemas.openxmlformats.org/officeDocument/2006/relationships" id="258" r:id="R101abf95d17d403f"/>
    <p:sldId xmlns:r="http://schemas.openxmlformats.org/officeDocument/2006/relationships" id="259" r:id="Rb3c587c2f1f64a7e"/>
    <p:sldId xmlns:r="http://schemas.openxmlformats.org/officeDocument/2006/relationships" id="260" r:id="Rb56a4ab9449441a9"/>
    <p:sldId xmlns:r="http://schemas.openxmlformats.org/officeDocument/2006/relationships" id="261" r:id="R84e158bbaf0f4950"/>
    <p:sldId xmlns:r="http://schemas.openxmlformats.org/officeDocument/2006/relationships" id="262" r:id="Rd13612c3780e468c"/>
    <p:sldId xmlns:r="http://schemas.openxmlformats.org/officeDocument/2006/relationships" id="263" r:id="R6f178e24dec6428e"/>
    <p:sldId xmlns:r="http://schemas.openxmlformats.org/officeDocument/2006/relationships" id="264" r:id="R4bb38a995fb84c55"/>
    <p:sldId xmlns:r="http://schemas.openxmlformats.org/officeDocument/2006/relationships" id="265" r:id="R258f686690fe4e9b"/>
    <p:sldId xmlns:r="http://schemas.openxmlformats.org/officeDocument/2006/relationships" id="266" r:id="Rceaf8b6393954241"/>
    <p:sldId xmlns:r="http://schemas.openxmlformats.org/officeDocument/2006/relationships" id="267" r:id="R64e2a3d3fa804c23"/>
    <p:sldId xmlns:r="http://schemas.openxmlformats.org/officeDocument/2006/relationships" id="268" r:id="Rec631e3e34254553"/>
    <p:sldId xmlns:r="http://schemas.openxmlformats.org/officeDocument/2006/relationships" id="269" r:id="Rd33c90fc6f404b33"/>
    <p:sldId xmlns:r="http://schemas.openxmlformats.org/officeDocument/2006/relationships" id="270" r:id="R028487b322a643a7"/>
    <p:sldId xmlns:r="http://schemas.openxmlformats.org/officeDocument/2006/relationships" id="271" r:id="R3c0c91a3773249c2"/>
    <p:sldId xmlns:r="http://schemas.openxmlformats.org/officeDocument/2006/relationships" id="272" r:id="Ree32797e7eeb4bf1"/>
    <p:sldId xmlns:r="http://schemas.openxmlformats.org/officeDocument/2006/relationships" id="273" r:id="R1def48c96ed04606"/>
    <p:sldId xmlns:r="http://schemas.openxmlformats.org/officeDocument/2006/relationships" id="274" r:id="R9b09c0a7a3f444f2"/>
    <p:sldId xmlns:r="http://schemas.openxmlformats.org/officeDocument/2006/relationships" id="275" r:id="R4922abd377e34df7"/>
    <p:sldId xmlns:r="http://schemas.openxmlformats.org/officeDocument/2006/relationships" id="276" r:id="Rfa74b1e9a1a64f56"/>
    <p:sldId xmlns:r="http://schemas.openxmlformats.org/officeDocument/2006/relationships" id="277" r:id="R35d15145ea5e416d"/>
    <p:sldId xmlns:r="http://schemas.openxmlformats.org/officeDocument/2006/relationships" id="278" r:id="R2f913c9ba07849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dae04d6a21400a" /><Relationship Type="http://schemas.openxmlformats.org/officeDocument/2006/relationships/slideMaster" Target="/ppt/slideMasters/slideMaster1.xml" Id="R315dd9428a19480c" /><Relationship Type="http://schemas.openxmlformats.org/officeDocument/2006/relationships/notesMaster" Target="/ppt/notesMasters/notesMaster1.xml" Id="Re7c2323482d94b8f" /><Relationship Type="http://schemas.openxmlformats.org/officeDocument/2006/relationships/presProps" Target="/ppt/presProps.xml" Id="R4cd50f767007415d" /><Relationship Type="http://schemas.openxmlformats.org/officeDocument/2006/relationships/tableStyles" Target="/ppt/tableStyles.xml" Id="R0f30de36a1b5406c" /><Relationship Type="http://schemas.openxmlformats.org/officeDocument/2006/relationships/slide" Target="/ppt/slides/slide1.xml" Id="R2235a16197884416" /><Relationship Type="http://schemas.openxmlformats.org/officeDocument/2006/relationships/slide" Target="/ppt/slides/slide2.xml" Id="Rf3d0fca5a2264dee" /><Relationship Type="http://schemas.openxmlformats.org/officeDocument/2006/relationships/slide" Target="/ppt/slides/slide3.xml" Id="R101abf95d17d403f" /><Relationship Type="http://schemas.openxmlformats.org/officeDocument/2006/relationships/slide" Target="/ppt/slides/slide4.xml" Id="Rb3c587c2f1f64a7e" /><Relationship Type="http://schemas.openxmlformats.org/officeDocument/2006/relationships/slide" Target="/ppt/slides/slide5.xml" Id="Rb56a4ab9449441a9" /><Relationship Type="http://schemas.openxmlformats.org/officeDocument/2006/relationships/slide" Target="/ppt/slides/slide6.xml" Id="R84e158bbaf0f4950" /><Relationship Type="http://schemas.openxmlformats.org/officeDocument/2006/relationships/slide" Target="/ppt/slides/slide7.xml" Id="Rd13612c3780e468c" /><Relationship Type="http://schemas.openxmlformats.org/officeDocument/2006/relationships/slide" Target="/ppt/slides/slide8.xml" Id="R6f178e24dec6428e" /><Relationship Type="http://schemas.openxmlformats.org/officeDocument/2006/relationships/slide" Target="/ppt/slides/slide9.xml" Id="R4bb38a995fb84c55" /><Relationship Type="http://schemas.openxmlformats.org/officeDocument/2006/relationships/slide" Target="/ppt/slides/slide10.xml" Id="R258f686690fe4e9b" /><Relationship Type="http://schemas.openxmlformats.org/officeDocument/2006/relationships/slide" Target="/ppt/slides/slide11.xml" Id="Rceaf8b6393954241" /><Relationship Type="http://schemas.openxmlformats.org/officeDocument/2006/relationships/slide" Target="/ppt/slides/slide12.xml" Id="R64e2a3d3fa804c23" /><Relationship Type="http://schemas.openxmlformats.org/officeDocument/2006/relationships/slide" Target="/ppt/slides/slide13.xml" Id="Rec631e3e34254553" /><Relationship Type="http://schemas.openxmlformats.org/officeDocument/2006/relationships/slide" Target="/ppt/slides/slide14.xml" Id="Rd33c90fc6f404b33" /><Relationship Type="http://schemas.openxmlformats.org/officeDocument/2006/relationships/slide" Target="/ppt/slides/slide15.xml" Id="R028487b322a643a7" /><Relationship Type="http://schemas.openxmlformats.org/officeDocument/2006/relationships/slide" Target="/ppt/slides/slide16.xml" Id="R3c0c91a3773249c2" /><Relationship Type="http://schemas.openxmlformats.org/officeDocument/2006/relationships/slide" Target="/ppt/slides/slide17.xml" Id="Ree32797e7eeb4bf1" /><Relationship Type="http://schemas.openxmlformats.org/officeDocument/2006/relationships/slide" Target="/ppt/slides/slide18.xml" Id="R1def48c96ed04606" /><Relationship Type="http://schemas.openxmlformats.org/officeDocument/2006/relationships/slide" Target="/ppt/slides/slide19.xml" Id="R9b09c0a7a3f444f2" /><Relationship Type="http://schemas.openxmlformats.org/officeDocument/2006/relationships/slide" Target="/ppt/slides/slide20.xml" Id="R4922abd377e34df7" /><Relationship Type="http://schemas.openxmlformats.org/officeDocument/2006/relationships/slide" Target="/ppt/slides/slide21.xml" Id="Rfa74b1e9a1a64f56" /><Relationship Type="http://schemas.openxmlformats.org/officeDocument/2006/relationships/slide" Target="/ppt/slides/slide22.xml" Id="R35d15145ea5e416d" /><Relationship Type="http://schemas.openxmlformats.org/officeDocument/2006/relationships/slide" Target="/ppt/slides/slide23.xml" Id="R2f913c9ba07849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e0fb82f0a9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43418154cd433d" /><Relationship Type="http://schemas.openxmlformats.org/officeDocument/2006/relationships/notesMaster" Target="/ppt/notesMasters/notesMaster1.xml" Id="R0e053842614349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7e4bb8bd53477c" /><Relationship Type="http://schemas.openxmlformats.org/officeDocument/2006/relationships/notesMaster" Target="/ppt/notesMasters/notesMaster1.xml" Id="R7db3ef35a69d46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f6b058101b4e03" /><Relationship Type="http://schemas.openxmlformats.org/officeDocument/2006/relationships/notesMaster" Target="/ppt/notesMasters/notesMaster1.xml" Id="R21e1fbb9f0d14b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f843b472544ed9" /><Relationship Type="http://schemas.openxmlformats.org/officeDocument/2006/relationships/notesMaster" Target="/ppt/notesMasters/notesMaster1.xml" Id="Rd807a9c0f2624e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98f52d90fe497d" /><Relationship Type="http://schemas.openxmlformats.org/officeDocument/2006/relationships/notesMaster" Target="/ppt/notesMasters/notesMaster1.xml" Id="R179f4b8c04de4a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8085fb48874072" /><Relationship Type="http://schemas.openxmlformats.org/officeDocument/2006/relationships/notesMaster" Target="/ppt/notesMasters/notesMaster1.xml" Id="R2bbf8343901844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93764c0d2b4d1f" /><Relationship Type="http://schemas.openxmlformats.org/officeDocument/2006/relationships/notesMaster" Target="/ppt/notesMasters/notesMaster1.xml" Id="R29c546011eaf43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d53169e6a44bec" /><Relationship Type="http://schemas.openxmlformats.org/officeDocument/2006/relationships/notesMaster" Target="/ppt/notesMasters/notesMaster1.xml" Id="Rb13c1c7c1fe04f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7e959cae354a69" /><Relationship Type="http://schemas.openxmlformats.org/officeDocument/2006/relationships/notesMaster" Target="/ppt/notesMasters/notesMaster1.xml" Id="Re0b27aafffc941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719cb2fd514bde" /><Relationship Type="http://schemas.openxmlformats.org/officeDocument/2006/relationships/notesMaster" Target="/ppt/notesMasters/notesMaster1.xml" Id="Rfa290a9a2cf64c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a99a4c9888424a" /><Relationship Type="http://schemas.openxmlformats.org/officeDocument/2006/relationships/notesMaster" Target="/ppt/notesMasters/notesMaster1.xml" Id="Rc3d9d745f07049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fa56327ab44ae7" /><Relationship Type="http://schemas.openxmlformats.org/officeDocument/2006/relationships/notesMaster" Target="/ppt/notesMasters/notesMaster1.xml" Id="Re54a38519ab64c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a97ec5edd34cb1" /><Relationship Type="http://schemas.openxmlformats.org/officeDocument/2006/relationships/notesMaster" Target="/ppt/notesMasters/notesMaster1.xml" Id="R27d7e4d127d34b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46b0a4e49f4d04" /><Relationship Type="http://schemas.openxmlformats.org/officeDocument/2006/relationships/notesMaster" Target="/ppt/notesMasters/notesMaster1.xml" Id="Rd9d276eaa4e44a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84a00360954ec0" /><Relationship Type="http://schemas.openxmlformats.org/officeDocument/2006/relationships/notesMaster" Target="/ppt/notesMasters/notesMaster1.xml" Id="Rb26dcf38e1aa42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45e76e9eb34ab4" /><Relationship Type="http://schemas.openxmlformats.org/officeDocument/2006/relationships/notesMaster" Target="/ppt/notesMasters/notesMaster1.xml" Id="Rab1c511d7c0d43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fbdeaf91334a4a" /><Relationship Type="http://schemas.openxmlformats.org/officeDocument/2006/relationships/notesMaster" Target="/ppt/notesMasters/notesMaster1.xml" Id="Rc6a041561d9947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8e1a39f24f466d" /><Relationship Type="http://schemas.openxmlformats.org/officeDocument/2006/relationships/notesMaster" Target="/ppt/notesMasters/notesMaster1.xml" Id="R55c26a8021364d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cc64656b86470c" /><Relationship Type="http://schemas.openxmlformats.org/officeDocument/2006/relationships/notesMaster" Target="/ppt/notesMasters/notesMaster1.xml" Id="R1d59e3a3a66a44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ca8cce34784b84" /><Relationship Type="http://schemas.openxmlformats.org/officeDocument/2006/relationships/notesMaster" Target="/ppt/notesMasters/notesMaster1.xml" Id="R295215777ba94f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04c41269a0746f7" /><Relationship Type="http://schemas.openxmlformats.org/officeDocument/2006/relationships/notesMaster" Target="/ppt/notesMasters/notesMaster1.xml" Id="R01fb5ab4628b46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8e4db2bf63424d" /><Relationship Type="http://schemas.openxmlformats.org/officeDocument/2006/relationships/notesMaster" Target="/ppt/notesMasters/notesMaster1.xml" Id="R888b54daa20141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f890f8089748f2" /><Relationship Type="http://schemas.openxmlformats.org/officeDocument/2006/relationships/notesMaster" Target="/ppt/notesMasters/notesMaster1.xml" Id="Raa0ae58050b24d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เปิดด้วยขอบเขตของระบบตามเอกสารโครงการ ยังไม่กล่าวถึงผลลัพธ์เชิงประสิทธิภาพ เพราะเอกสารไม่มีข้อมูลการใช้งานจริงรองรับ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README.md:1-3; src/lib/domain.ts:58-63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อธิบายว่าการนำเสนอแยกข้อเท็จจริงในเอกสารออกจากข้อมูลที่ยังไม่มีอย่างชัดเจน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README.md:17-71; VERIFICATION.md:18-24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เน้นการควบคุมลำดับสถานะและผู้รับผิดชอบ ไม่กล่าวอ้างว่างานเดิมล่าช้าหรือผิดพลาดเพียงใด เพราะไม่มีตัวเลขรองรับ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src/lib/domain.ts:16-40,64-89; supabase/migrations/001_initial.sql:16-29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ใช้สไลด์นี้กำหนดความคาดหวังร่วมกัน ตัวอย่างในสไลด์ต่อไปไม่ใช่หลักฐานผลลัพธ์หลังใช้งานจริง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VERIFICATION.md:18-24; README.md:70-71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เชื่อมจากโจทย์ไปยังขอบเขตของระบบ ก่อนอธิบายวิธีใช้งานรายบทบาท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README.md:3,43-59; src/lib/domain.ts:58-63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ใช้สไลด์นี้เป็นแผนที่ก่อนเข้าสู่วิธีใช้งานรายบทบาท เน้นสิ่งที่ผู้ใช้พบและการส่งต่องาน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README.md:17-59; src/components/workspace.tsx:1-310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เลขบัตรประชาชนเป็นข้อมูลส่วนบุคคล โรงเรียนควรกำหนดวิธีตรวจสอบตัวตนและแนวทางดูแลข้อมูลก่อนใช้จริง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README.md:17-28; src/components/login.tsx:25-58; src/app/page.tsx:7-17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ชี้ให้เห็นว่า 75% ครอบคลุมสองสถานะ จึงต้องดูข้อความสถานะร่วมกับเปอร์เซ็นต์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src/lib/domain.ts:2-8,64-89; tests/domain.test.ts:6-16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เดินตามลูกศรทีละบทบาทและย้ำจุดส่งต่องานที่ต้องเกิดตามลำดับ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README.md:45-51; src/lib/domain.ts:79-89; supabase/migrations/001_initial.sql:45-50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สาธิตจากรายการหนึ่งรายการ ตั้งแต่ปุ่มยื่นคำร้องจนย้ายไปอยู่ในประวัติ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README.md:19-20,45-46; src/components/workspace.tsx:118-145; src/components/assignment-detail.tsx:1-130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ย้ำว่าปุ่มเปลี่ยนตามขั้นตอน และครูดำเนินการเฉพาะรายการในรายวิชาที่รับผิดชอบ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README.md:47-48; src/components/workspace.tsx:146-159,247-255; supabase/migrations/001_initial.sql:61-70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อธิบายว่างานของฝ่ายวิชาการมีทั้งการอนุมัติรายรายการและงานข้อมูลเข้าออก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README.md:49,53-59; src/lib/domain.ts:88-89; supabase/migrations/001_initial.sql:66-79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แยกหน้าที่ควบคุมช่วงเวลาออกจากหน้าที่ทางวิชาการให้ชัดเจน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README.md:24,50-51; src/lib/domain.ts:79-89; supabase/migrations/001_initial.sql:49,83-90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อธิบายขั้นตอน เตรียมไฟล์ ตรวจผล และยืนยันการนำเข้า โดยไม่ลงรายละเอียดทางเทคนิค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README.md:53-57; src/lib/import.ts:2-81; src/lib/import-excel.ts:4-26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เชื่อมหน้าประวัติของนักเรียนกับรายงานสำเร็จของฝ่ายวิชาการ โดยไม่กล่าวว่าระบบแทนระบบทะเบียนหลัก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README.md:48-49,59; src/lib/domain.ts:98-101; tests/domain.test.ts:29-33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สาธิตตำแหน่งแนบไฟล์ของครูและปุ่มดาวน์โหลดของนักเรียน โดยไม่อธิบายกลไกเบื้องหลัง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src/components/assignment-actions.tsx:76-105; src/app/actions.ts:106-176; src/app/dashboard/assignments/[id]/page.tsx:34-48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ใช้สถานการณ์ตัวอย่างถามผู้ฟังว่า ตอนนี้ใครเป็นผู้ดำเนินการต่อ เพื่อทบทวนขอบเขตหน้าที่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README.md:26-28,61-69; supabase/migrations/001_initial.sql:40-80; src/proxy.ts:14-33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โหมดทดลองใช้ข้อมูลสมมติ จึงควรจัดรอบทดลองกับผู้แทนแต่ละบทบาทและบันทึกข้อเสนอแนะก่อนใช้จริง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VERIFICATION.md:1-24; README.md:70-71,84-90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ข้อมูลทั้งหมดเป็นข้อมูลสมมติ ใช้สาธิตการส่งต่องานเท่านั้น ไม่ใช่กรณีของนักเรียนจริง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src/lib/demo.ts:2-31,38-89; README.md:70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ข้อมูลนี้เป็นตัวอย่าง ไม่ใช่ข้อมูลจริงของโรงเรียน ใช้อธิบายสิ่งที่ฝ่ายวิชาการต้องตรวจในไฟล์ก่อนนำเข้า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tests/domain.test.ts:34-56; src/lib/import.ts:2-14; VERIFICATION.md:9-10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หลีกเลี่ยงการกล่าวว่าโครงการลดภาระงานจนกว่าจะมีข้อมูลจากการทดลองใช้กับผู้ใช้จริง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VERIFICATION.md:3-24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ทบทวนเส้นทางหนึ่งรายการตั้งแต่เริ่มต้นถึงเสร็จสมบูรณ์ แล้วเชื่อมกลับไปยังหน้าที่ของแต่ละบทบาท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README.md:43-69; src/lib/domain.ts:64-89; supabase/migrations/001_initial.sql:45-80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ปิดด้วยการมอบหมายเจ้าของงานในแต่ละข้อ เอกสารไม่มีข้อมูลว่าใครรับผิดชอบ จึงต้องกำหนดร่วมกันหลังการนำเสนอ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Citation: README.md:5-15,26-28,41,70-71; VERIFICATION.md:18-24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1fb0afb4d47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801e8a67444242" /><Relationship Type="http://schemas.openxmlformats.org/officeDocument/2006/relationships/slideLayout" Target="/ppt/slideLayouts/slideLayout1.xml" Id="R0bb7be5930f349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b7be5930f349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e32df945440a2" /><Relationship Type="http://schemas.openxmlformats.org/officeDocument/2006/relationships/notesSlide" Target="/ppt/notesSlides/notesSlide1.xml" Id="R974cde02276c4b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eb8d1e61a48b5" /><Relationship Type="http://schemas.openxmlformats.org/officeDocument/2006/relationships/notesSlide" Target="/ppt/notesSlides/notesSlide2.xml" Id="Rd6dedae65b934b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02c1142c246af" /><Relationship Type="http://schemas.openxmlformats.org/officeDocument/2006/relationships/notesSlide" Target="/ppt/notesSlides/notesSlide3.xml" Id="R4cf9f2351eaf43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dba298521421e" /><Relationship Type="http://schemas.openxmlformats.org/officeDocument/2006/relationships/notesSlide" Target="/ppt/notesSlides/notesSlide4.xml" Id="R0152e1847d6f4f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4ab2fcf7b457b" /><Relationship Type="http://schemas.openxmlformats.org/officeDocument/2006/relationships/notesSlide" Target="/ppt/notesSlides/notesSlide5.xml" Id="Rca5e61e4651e49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c15e8f68748ec" /><Relationship Type="http://schemas.openxmlformats.org/officeDocument/2006/relationships/notesSlide" Target="/ppt/notesSlides/notesSlide6.xml" Id="Ree69c1bab0b643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70ac70aca4da5" /><Relationship Type="http://schemas.openxmlformats.org/officeDocument/2006/relationships/notesSlide" Target="/ppt/notesSlides/notesSlide7.xml" Id="Red845ee2b3d148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c1ac2e9624fde" /><Relationship Type="http://schemas.openxmlformats.org/officeDocument/2006/relationships/notesSlide" Target="/ppt/notesSlides/notesSlide8.xml" Id="R293418857f6446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f3cd580994e94" /><Relationship Type="http://schemas.openxmlformats.org/officeDocument/2006/relationships/notesSlide" Target="/ppt/notesSlides/notesSlide9.xml" Id="R63545260797c40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973fa2d2448b4" /><Relationship Type="http://schemas.openxmlformats.org/officeDocument/2006/relationships/notesSlide" Target="/ppt/notesSlides/notesSlide10.xml" Id="R01b250ac93cd49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f7aa8b56d45c6" /><Relationship Type="http://schemas.openxmlformats.org/officeDocument/2006/relationships/notesSlide" Target="/ppt/notesSlides/notesSlide11.xml" Id="R06c01f30698741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fae4f39ad4182" /><Relationship Type="http://schemas.openxmlformats.org/officeDocument/2006/relationships/notesSlide" Target="/ppt/notesSlides/notesSlide12.xml" Id="R2680b25867f647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47faa47f24171" /><Relationship Type="http://schemas.openxmlformats.org/officeDocument/2006/relationships/notesSlide" Target="/ppt/notesSlides/notesSlide13.xml" Id="Rc2886b343c8f41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c09334fc141b8" /><Relationship Type="http://schemas.openxmlformats.org/officeDocument/2006/relationships/notesSlide" Target="/ppt/notesSlides/notesSlide14.xml" Id="R4330b82d058844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123fd6f564f2a" /><Relationship Type="http://schemas.openxmlformats.org/officeDocument/2006/relationships/notesSlide" Target="/ppt/notesSlides/notesSlide15.xml" Id="Rba5232bfe5c842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7eb68be7c44c2" /><Relationship Type="http://schemas.openxmlformats.org/officeDocument/2006/relationships/notesSlide" Target="/ppt/notesSlides/notesSlide16.xml" Id="R7f2c1844b53141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da76f1f234079" /><Relationship Type="http://schemas.openxmlformats.org/officeDocument/2006/relationships/notesSlide" Target="/ppt/notesSlides/notesSlide17.xml" Id="R252c7396fb3e45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9517c042d4399" /><Relationship Type="http://schemas.openxmlformats.org/officeDocument/2006/relationships/notesSlide" Target="/ppt/notesSlides/notesSlide18.xml" Id="R905d1e65a3974a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74970737d437c" /><Relationship Type="http://schemas.openxmlformats.org/officeDocument/2006/relationships/notesSlide" Target="/ppt/notesSlides/notesSlide19.xml" Id="R6b09d55f640b483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1e25d940b4250" /><Relationship Type="http://schemas.openxmlformats.org/officeDocument/2006/relationships/notesSlide" Target="/ppt/notesSlides/notesSlide20.xml" Id="Rd6e94054270c45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37fb0abc94880" /><Relationship Type="http://schemas.openxmlformats.org/officeDocument/2006/relationships/notesSlide" Target="/ppt/notesSlides/notesSlide21.xml" Id="Reb6f84dd78f942a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b62717b324e40" /><Relationship Type="http://schemas.openxmlformats.org/officeDocument/2006/relationships/notesSlide" Target="/ppt/notesSlides/notesSlide22.xml" Id="R365d451b398544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19030d41144f9" /><Relationship Type="http://schemas.openxmlformats.org/officeDocument/2006/relationships/notesSlide" Target="/ppt/notesSlides/notesSlide23.xml" Id="R6bfeeeb7c0054b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12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CB9AF-7819-44CA-8230-A5DC129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FDF7A-5122-4C5D-A475-1D5CEB68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5D8FA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E5D8FA"/>
                </a:solidFill>
                <a:latin typeface="Tahoma"/>
                <a:ea typeface="Tahoma"/>
                <a:cs typeface="Tahoma"/>
              </a:rPr>
              <a:t>MST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29108-DD58-4BCE-AA2A-223F5D6E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D8FA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E5D8FA"/>
                </a:solidFill>
                <a:latin typeface="Tahoma"/>
                <a:ea typeface="Tahoma"/>
                <a:cs typeface="Tahoma"/>
              </a:rPr>
              <a:t>GRADE RECOVERY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BC5FE-D1D9-4EA5-AB73-4D9CC5B8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ระบบแก้ไขผลการเรียนคงค้าง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C6786-7233-4681-ACF5-6CC366DA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5D8FA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E5D8FA"/>
                </a:solidFill>
                <a:latin typeface="Tahoma"/>
                <a:ea typeface="Tahoma"/>
                <a:cs typeface="Tahoma"/>
              </a:rPr>
              <a:t>โรงเรียนเมืองสุราษฎร์ธานี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16C1C-CA71-4F81-995A-B09A7561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3C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1AD0A-84DD-41D5-9FA5-C9A20420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นักเรียน    ครู    ฝ่ายวิชาการ    ผู้ดูแลระบบ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F3026-F136-45C9-8755-0F9B3E71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D8F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E5D8FA"/>
                </a:solidFill>
                <a:latin typeface="Tahoma"/>
                <a:ea typeface="Tahoma"/>
                <a:cs typeface="Tahoma"/>
              </a:rPr>
              <a:t>การนำเสนอ 60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692E4-2CAE-44B6-9706-A9242403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E5D8F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E5D8FA"/>
                </a:solidFill>
                <a:latin typeface="Tahoma"/>
                <a:ea typeface="Tahoma"/>
                <a:cs typeface="Tahoma"/>
              </a:rPr>
              <a:t>ที่มา: README.md:1-3; src/lib/domain.ts:58-63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E12AB-17D5-4C3E-8C9A-BD50A17A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5675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3CD4D-3DE5-48B3-9A4C-070EE609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92D3D-1A5C-47A7-8925-9E3376BA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THE CORE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E4F33-2B9C-4396-8CA7-9BCC685D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A0FFA-B49E-4F5D-B6BF-928DE62D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เส้นทางการนำเสนอ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B6182-B5F7-475B-B90E-E88B82BA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CEB74-2FED-48B6-A87C-A9FD4396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เริ่มจากโจทย์ของระบบ แล้วเชื่อมไปยังขั้นตอน บทบาท ตัวอย่าง และความพร้อมใช้งาน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4F56F-359C-479A-B10E-529522EA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6C387-C80B-438A-962F-B10DE76F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README.md:17-71; VERIFICATION.md:18-24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7E1D0-BC27-4772-8E86-EB57088F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076F8-5BA1-4120-8622-F13ABCFF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3" y="278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56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165C8-074C-486B-9757-A125B4D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2857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8D690-D9CA-455A-8FA4-62B31115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3009900"/>
            <a:ext cx="2238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9A8E6-7A8D-4CC4-927B-383E2D46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48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โจทย์และขอบเขต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B19EF-3EC4-4118-A663-FA332C49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88" y="278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A8F9A-8654-4DA5-9BD5-017648DC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888" y="2857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BED9D-A541-4E6C-8B4F-07D7809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988" y="3009900"/>
            <a:ext cx="2238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E0CD8-7EEE-44D2-A9C0-DB674214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9950"/>
            <a:ext cx="248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วิธีใช้งาน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145FB-0A0E-4913-9DBB-8D74B7D0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78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75A56-30AD-44F2-A7C2-EDCE22CF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63" y="2857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8DC04-F3AE-4557-86B5-31F5B7C3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009900"/>
            <a:ext cx="2238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FBC66-8B9C-4B78-BC2C-AB293E24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09950"/>
            <a:ext cx="248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ตัวอย่าง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EE15E-152A-499B-8818-C6E79599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2781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161B4-5990-460D-8136-3C5131D9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2857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7EEEF-73BE-4217-93C3-BD81820E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409950"/>
            <a:ext cx="248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ความพร้อม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FF039-9505-4646-AA2B-528C671E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0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การนำเสนอแยกข้อมูลที่มีหลักฐานออกจากข้อมูลที่ยังไม่มี</a:t>
            </a:r>
          </a:p>
        </p:txBody>
      </p:sp>
    </p:spTree>
    <p:extLst>
      <p:ext uri="{BB962C8B-B14F-4D97-AF65-F5344CB8AC3E}">
        <p14:creationId xmlns:p14="http://schemas.microsoft.com/office/powerpoint/2010/main" val="348223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57D6D-F456-45EE-87B6-C1B8D2A0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D4EC6-EA2C-43AF-A019-40AF4E4A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THE CORE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92FC0-C7F5-46FC-95E4-DC6A2AA8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7437C-5D0D-426D-B95C-D71D1C52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โจทย์หลักของระบบ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F2421-A1D2-484A-90E7-B0F54CDE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79178-23C5-49AC-8E8A-007E5941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ผลการเรียนคงค้างแต่ละรายการต้องผ่านผู้รับผิดชอบตามลำดับก่อนปิดงาน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587F9-D615-4E5B-9783-BB81B1EF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8BE8A-20B7-4433-B9E7-31874A70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src/lib/domain.ts:16-40,64-89; supabase/migrations/001_initial.sql:16-29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FB910-B281-4ADF-BFD9-ADC16A6B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2D922-2008-4BF2-AF7D-0ED8D65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30861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19050">
            <a:solidFill>
              <a:srgbClr val="713C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89A47-3194-428A-B71A-A9D9E7B1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หนึ่งรายการผลการเรียนคงค้าง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C538E-19C7-42A8-8BCE-9C5C57CC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147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นักเรียน  •  รายวิชา</a:t>
            </a:r>
          </a:p>
          <a:p xmlns:a="http://schemas.openxmlformats.org/drawingml/2006/main">
            <a:pPr algn="ctr">
              <a:defRPr sz="12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ครู  •  ปีการศึกษา  •  ภาคเรียน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5A292-84A6-4B11-96F7-6A470776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F0B92-A362-4F89-A2C2-95576F1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นักเรียนเริ่มคำร้อง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C3797-7AD7-4294-8C78-83CED72D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3D36E-BF94-452D-890B-7392FF27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ครูมอบหมายและอนุมัติ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A8F9E-5A22-4364-A585-BDB2121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7CAC3-7101-4A95-8719-CBEBB911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ฝ่ายวิชาการปิดรายการ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41D0F6-6F9B-4C50-9D08-E19755F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3B4F4-7154-44AE-816C-439F7D30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ผู้ดูแลกำหนดเวลา</a:t>
            </a:r>
          </a:p>
        </p:txBody>
      </p:sp>
    </p:spTree>
    <p:extLst>
      <p:ext uri="{BB962C8B-B14F-4D97-AF65-F5344CB8AC3E}">
        <p14:creationId xmlns:p14="http://schemas.microsoft.com/office/powerpoint/2010/main" val="112629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A63F7-B247-4D41-9AC0-99BD918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03943-5F6A-458F-BB27-3A1533A4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THE CORE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5EDD1-61C0-4A78-A32D-98443287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85238-F680-412E-BC86-C19E2424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ขอบเขตหลักฐานที่ยังไม่มี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A82C9-5F8A-4860-8CC2-4262EE9E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FC600-45B8-4A93-87BC-8AD233DD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เอกสารยังไม่รองรับการกล่าวอ้างผลลัพธ์เชิงปริมาณหรือผลจากการใช้งานจริง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CE90A-3D32-4083-80A7-60634D9E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69AED-0BA4-4CBC-A8A1-F152C424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VERIFICATION.md:18-24; README.md:70-71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0E833-9A9C-4DEF-A20F-90C0F466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CC335-585D-4031-A294-B5C5C7F2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มีข้อมูลในเอกสาร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9822E-E9BD-4E78-9203-4EC017C2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ขั้นตอนการทำงาน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สถานะและหน้าที่ของแต่ละบทบาท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ตัวอย่างข้อมูลสมมติ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527A8-A3B6-42CF-9073-C0A47DB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9525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D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2DD2A-F114-4851-B596-1D86628C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656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C2656F"/>
                </a:solidFill>
                <a:latin typeface="Tahoma"/>
                <a:ea typeface="Tahoma"/>
                <a:cs typeface="Tahoma"/>
              </a:rPr>
              <a:t>ไม่มีข้อมูลในเอกสาร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9B76C-7720-4028-BE69-B1D6C011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908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จำนวนรายการก่อนใช้ระบบ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ระยะเวลาก่อนและหลังใช้ระบบ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ภาระงานเดิมและความพึงพอใจ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ผลจากผู้ใช้จริง</a:t>
            </a:r>
          </a:p>
        </p:txBody>
      </p:sp>
    </p:spTree>
    <p:extLst>
      <p:ext uri="{BB962C8B-B14F-4D97-AF65-F5344CB8AC3E}">
        <p14:creationId xmlns:p14="http://schemas.microsoft.com/office/powerpoint/2010/main" val="1695311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EBF15-C9A8-4EB4-AA36-4547E751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89D07-9AE9-4B0D-A9DF-B46249C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THE CORE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2CF7D-04A3-4214-853E-7C7FB580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BD71B-E6F2-44B9-A270-C8AB5EBD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ขอบเขตของ MST GRS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48E9-6357-47C6-A323-8F0C6152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E3585-8107-4BB1-923D-72C1464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ระบบครอบคลุมงานตั้งแต่เข้าสู่ระบบจนถึงการอนุมัติและรายงาน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E23F1-B2C8-4458-9103-BD11C3C9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75049-A64A-4F1C-8469-196714B5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README.md:3,43-59; src/lib/domain.ts:58-63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22E82-EDCD-4C6E-9074-C9516230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10487-A113-4266-870C-7B45DF43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3238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A27B1-8454-42A7-9D1C-0FB15B07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MST GRS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27274-6046-48BA-AA4A-6721C0DD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528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5D8FA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E5D8FA"/>
                </a:solidFill>
                <a:latin typeface="Tahoma"/>
                <a:ea typeface="Tahoma"/>
                <a:cs typeface="Tahoma"/>
              </a:rPr>
              <a:t>ระบบกลางของ 4 บทบาท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EC048-FD69-4560-8864-D0499EA6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8DB4F-0ECC-48C1-A504-2839997E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เข้าสู่ระบบ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679E2-2EA1-4BFB-BE56-255D0E80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D8D2C-07F6-452C-AD8B-F966647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ติดตามสถานะ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23414-5BD5-477C-BFA9-5F07ACD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4D269-1960-42B7-8DC6-EC9D1029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มอบหมายและอนุมัติ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26735-D3FC-40CA-89E8-EAC3C92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37318-808B-4A35-B917-9F649140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นำเข้าและส่งออก</a:t>
            </a:r>
          </a:p>
        </p:txBody>
      </p:sp>
    </p:spTree>
    <p:extLst>
      <p:ext uri="{BB962C8B-B14F-4D97-AF65-F5344CB8AC3E}">
        <p14:creationId xmlns:p14="http://schemas.microsoft.com/office/powerpoint/2010/main" val="1222665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5162F2-B3DD-46D3-8761-CE0EABAA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E1D49-54F9-4260-849C-992EC34D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932E7-DB83-4964-BCCF-F7326EEF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8210F-2235-486A-A68A-C470D8E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ภาพรวมการใช้งานระบบ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4D9F1-F3CD-4891-BF62-05D8AF53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07854-A35A-4FCC-953E-0D2ED5AA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ผู้ใช้เริ่มจากหน้าเข้าสู่ระบบ แล้วทำงานต่อในหน้าที่ซึ่งตรงกับความรับผิดชอบของตน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12D38-1BCF-4A5D-B11A-C022A01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B131B-217E-432F-874E-F0B13A52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README.md:17-59; src/components/workspace.tsx:1-310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C01DF-D627-4E3A-9494-BB83C1DE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20EF7-C907-4869-B5D3-76649D37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532CF-4916-4A7C-9EE2-AE8C86BB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" y="2952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410BE-35FB-4620-A6BD-253E698D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55" y="3105150"/>
            <a:ext cx="169926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B2888-7D71-435B-A74E-60497F68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94691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เข้าสู่ระบบ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92CFB-E73D-405E-A029-E062F61C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115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3EFA8-8EB1-48DF-BE1B-81E96038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215" y="2952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510F0-A582-497B-8657-CE663072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315" y="3105150"/>
            <a:ext cx="169926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D8EEE-5293-408F-9A80-AD0F8EB6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3505200"/>
            <a:ext cx="194691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เห็นรายการ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0E1B9-0AE3-4AEC-B80E-C37919B2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7B0AF-992E-4EE5-85EB-54400857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52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AE80F-9CC2-4D62-8F60-0D024046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05150"/>
            <a:ext cx="169926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2D875-1139-4E5B-BB61-58D2E242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505200"/>
            <a:ext cx="194691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ดำเนินการ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B40EF-3CF3-447C-89DE-16B5A3D2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741D5-1428-4F9D-91CA-37998B77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135" y="2952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0361D-A0EC-4AFD-A80D-EAD5DDE6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235" y="3105150"/>
            <a:ext cx="169926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03143-1993-4FD1-AB88-F13730A5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3505200"/>
            <a:ext cx="194691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ส่งต่องาน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E19FB-CE8C-40A4-8FC2-DCD46CD9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495" y="2876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56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23284-4803-471E-9CF8-E81828BC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595" y="2952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42DE5-B9F8-42FD-ADBF-51F3C2E2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3505200"/>
            <a:ext cx="194691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ตรวจประวัติ</a:t>
            </a:r>
          </a:p>
        </p:txBody>
      </p:sp>
    </p:spTree>
    <p:extLst>
      <p:ext uri="{BB962C8B-B14F-4D97-AF65-F5344CB8AC3E}">
        <p14:creationId xmlns:p14="http://schemas.microsoft.com/office/powerpoint/2010/main" val="347383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3307F-3B7F-46AB-997F-AC7C48E8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3A51C-546A-4F4D-A5A8-41E16815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6877A-0F57-414D-9B75-37A2F8CE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A2985-B6F6-4521-A98F-C071078C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วิธีเข้าสู่ระบบตามบทบาท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2B313-8DF7-427A-9412-988F75A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681D5-42E0-44C6-A009-1CB4768F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ผู้ใช้เลือกบทบาทก่อนเข้าสู่ระบบ และแต่ละบทบาทใช้ข้อมูลยืนยันตัวตนต่างกัน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42E71-E286-4429-8818-C3589C9D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21802-6D0B-488A-A57D-B561D4AE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README.md:17-28; src/components/login.tsx:25-58; src/app/page.tsx:7-17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B7EF3-AA1F-4465-8072-C1AEA72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46851-6900-461C-ABD2-D212D0D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97CC5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397CC5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FD2C0-988A-4FE2-9BB1-EF03C511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68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D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2190E-8933-404A-BDBB-585C6B55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เลขประจำตัวนักเรียน + เลขบัตรประชาชน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A7825-E125-4B87-AB65-2B713087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ครู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DC7B4-95E3-4309-BF29-316B85B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71850"/>
            <a:ext cx="68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D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24378-A9BD-4548-8609-DADFFF2F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04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เลขบัตรประชาชน 13 หลัก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5DD18-F12B-4CD0-8BCC-98616D8C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ฝ่ายวิชาการ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83769-C2F2-40AA-829F-7A1A059B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91000"/>
            <a:ext cx="68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D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00905-1E04-4C01-B611-0BF140C4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เลขบัตรประชาชน 13 หลัก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9812B-AD2B-41EC-A849-5AB7F268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801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B8801A"/>
                </a:solidFill>
                <a:latin typeface="Tahoma"/>
                <a:ea typeface="Tahoma"/>
                <a:cs typeface="Tahoma"/>
              </a:rPr>
              <a:t>ผู้ดูแลระบบ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F85EA-EC20-42DB-A562-0B895C0F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10150"/>
            <a:ext cx="685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D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7C71F-CC13-4D33-8E83-AE30F26D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38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Username + Password</a:t>
            </a:r>
          </a:p>
        </p:txBody>
      </p:sp>
    </p:spTree>
    <p:extLst>
      <p:ext uri="{BB962C8B-B14F-4D97-AF65-F5344CB8AC3E}">
        <p14:creationId xmlns:p14="http://schemas.microsoft.com/office/powerpoint/2010/main" val="1929653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72CB91-79E0-433F-B089-4129F380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AFC69-AF0D-4DB3-91DC-B83B9317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070A7-4D2A-4D50-9403-4C1BBC21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4009C-D27F-4D78-ABF6-AFF64C47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วงจรสถานะของหนึ่งรายการ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E045A-BDFD-4726-ACA8-B0C1A257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48E7A-CFB7-4DE4-BB1A-33D3B2F9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แถบความคืบหน้าบอกตำแหน่งของรายการและผู้ที่ต้องดำเนินการต่อ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C788-0208-4437-B9AB-E0BFE46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C06A4-AC2D-437D-8D8B-22C6D73E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src/lib/domain.ts:2-8,64-89; tests/domain.test.ts:6-16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3602A-5906-4145-A668-19C7D363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82545-EF0D-49E4-8C92-CCFDAD35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57550"/>
            <a:ext cx="1219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CD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7A44B-45F2-452A-A050-99C60F32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56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8E74F-FCD3-4C77-95EA-659455C6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342E5-6AD5-434B-999E-9BD2D87D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ยังไม่ยื่นคำร้อง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B827F-0430-4566-BDE3-54A7055B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219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CD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56BBC-EFE8-4AB2-9C19-186C0D1E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813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3A2C7-FCAF-4DD2-AD5B-EF93BEF3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1989B-B183-422B-8E34-4C33E1E0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43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รอมอบหมายงาน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F6DE2-356E-4FCF-B130-DDCB81FC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1219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CD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F0E1F-370C-40C8-B082-3CD2D61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9B303-B735-4E3F-91B4-989D1F37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670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274C1-7B70-4DC5-ADD4-CDF96DE4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อยู่ระหว่างดำเนินการ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F56C9-986D-426F-A379-BB726BC4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1219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CD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7EC19-4EB8-4B96-A3D6-A32A41B7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5417E-A4E9-4843-818A-B823D3D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75%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2F31D-ABF7-43C9-8E87-83D39431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ส่งงานแล้ว / รออนุมัติ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1C9E1-11C7-4B70-9D5D-70EF3A51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E32A3-D53B-47DE-B4C9-0717D6A9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670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100%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EE51BC-4B76-4582-B682-D681EA57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แก้ไขสำเร็จ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701839-8827-4D37-B72F-627D9A0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625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ที่ 75% ต้องอ่านชื่อสถานะร่วมด้วย เพราะมีสองช่วงงาน</a:t>
            </a:r>
          </a:p>
        </p:txBody>
      </p:sp>
    </p:spTree>
    <p:extLst>
      <p:ext uri="{BB962C8B-B14F-4D97-AF65-F5344CB8AC3E}">
        <p14:creationId xmlns:p14="http://schemas.microsoft.com/office/powerpoint/2010/main" val="172013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93F0F-1398-427F-B5FC-196A208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6A2BC-8AE0-46A5-85FF-EC4195DE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4F89D-6E31-472B-80EB-307127B2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5FDF7-034D-4941-A7C9-E428CFD8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ความสัมพันธ์ของ 4 บทบาท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377E7-0F37-4562-B2DF-82C21128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E946B-C5A7-4618-A143-0F7CE649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แต่ละบทบาทรับผิดชอบคนละจุดและส่งต่อรายการตามสถานะที่กำหนด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01000-B10D-48B2-A243-3B7416D1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C3034-4A2C-46A3-8C8E-A26D5D6D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README.md:45-51; src/lib/domain.ts:79-89; supabase/migrations/001_initial.sql:45-50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24231-3532-42D4-84D9-F22D2164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5C97F-383F-498D-A141-D8CE6D94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B7BC5-38AC-4F2F-92D1-7A9EC587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3E423-D92E-4332-B9E2-427931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43175"/>
            <a:ext cx="95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9ECCB-483F-4970-A0A8-313AFA42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717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ยื่นคำร้อง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BBACB-1A2D-4825-A807-0353AEC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9EA9F-A005-4E03-B618-C119DBC7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ครู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966EA-1364-4DF4-AFC1-6B7BE255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19475"/>
            <a:ext cx="95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3C9FD-A795-4C2D-AFFC-47FAC61B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480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มอบหมาย  รับงาน  อนุมัติ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0166A-5702-442A-9C73-594BF5A4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30385-3334-4F8A-B9DD-5AB9496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ฝ่ายวิชาการ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207BC-C72C-457F-B4B6-E7FF4E14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95775"/>
            <a:ext cx="95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23B31-F859-4225-8F24-4A88DBCF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243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ตรวจและอนุมัติขั้นสุดท้าย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EEF03-7F27-44CC-8B73-FC4598A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D0BDD-212D-471D-AA7E-345F5F26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ผู้ดูแล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00F0B-6AAE-42D3-8697-435C878F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72075"/>
            <a:ext cx="95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A9019-2FFA-472F-8999-DA0F713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006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กำหนดช่วงเวลา</a:t>
            </a:r>
          </a:p>
        </p:txBody>
      </p:sp>
    </p:spTree>
    <p:extLst>
      <p:ext uri="{BB962C8B-B14F-4D97-AF65-F5344CB8AC3E}">
        <p14:creationId xmlns:p14="http://schemas.microsoft.com/office/powerpoint/2010/main" val="89528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0F25C1-B733-47AF-83FF-56EFEBA6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2ADFC-90B6-49AC-878C-4E73E5F2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D9D79-F8DE-4017-83C8-D763C731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8C385-78B9-4A5F-90C2-0CB564AF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วิธีใช้งานของนักเรียน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92278-14D7-46B8-ACCA-51F20F16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A3849-7A35-4BAB-AC0B-6A6E9BE1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นักเรียนเห็นรายการของตนและดำเนินการตามปุ่มที่สอดคล้องกับสถานะ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4599D-BE1C-4B76-80F7-6FFAA89D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7070F-80BB-4F97-8281-BEC3F428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README.md:19-20,45-46; src/components/workspace.tsx:118-145; src/components/assignment-detail.tsx:1-130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541C6-D274-4392-B6EE-8FC5AC2E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9D6B7-99AC-4FBB-AB52-FEACF95A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04DFE-245C-426F-A736-E398CAF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22369-6A88-4742-AFF7-C25AFB87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38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เข้าสู่ระบบด้วยเลขนักเรียนและเลขบัตรประชาชน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5CE14-8BFA-4176-806D-7B874344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536E6-7D56-4977-A9B6-8E3FAA2C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8E434-2FD7-4BBD-B729-E1DA5BAB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38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ดูรายการคงค้างและแถบความคืบหน้า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E517C-5FDF-470F-8472-5FEDF16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7CE9D-CAD8-4204-8371-9BC12B6A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0E945-71BC-4C9D-B55E-BD80FCCA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623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กด ยื่นคำร้อง เมื่อสถานะ 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09814-B1F7-4B82-AC63-5C3F46C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FD6C7-E6E2-4D04-B796-62BFA1E0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5D6B8-62D3-4FF4-A991-0E1C550B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เปิดหน้ารายละเอียดเมื่อครูมอบหมายแล้ว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85E37-2905-4843-BEB9-FF9104FD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56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03923-AD59-4B8D-B514-310077DE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B33DD-44EC-4C76-A842-233C5B7D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862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อ่านคำสั่ง กำหนดส่ง และดาวน์โหลดไฟล์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2113F-0EA8-4290-831F-1373FF04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1709D-68E9-4E14-A678-55248128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005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8B394C-EC0A-4B91-9397-30D00621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862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รายการ 100% อยู่ในหน้าประวัติ</a:t>
            </a:r>
          </a:p>
        </p:txBody>
      </p:sp>
    </p:spTree>
    <p:extLst>
      <p:ext uri="{BB962C8B-B14F-4D97-AF65-F5344CB8AC3E}">
        <p14:creationId xmlns:p14="http://schemas.microsoft.com/office/powerpoint/2010/main" val="2071319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144A9C-498A-47F6-975D-C4CE63A5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26419-F3F3-4CFB-A886-6C02301E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8D47B-38B9-4801-A695-53E439FA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BCAC8-412D-4816-B5C3-50E223E1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วิธีใช้งานของครูประจำวิชา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BC4B-6A58-49AE-AFDE-F8581D9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C4016-AA46-4AAF-9C5C-4F04B28B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ครูรับช่วงจากคำร้องและส่งรายการต่อฝ่ายวิชาการหลังตรวจงาน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BC94F-07AC-4135-BC91-07BD951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D4D80-D98D-49BA-A197-B2B5468F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README.md:47-48; src/components/workspace.tsx:146-159,247-255; supabase/migrations/001_initial.sql:61-70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81DA3-B471-4246-8A29-607ED82A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22735-80BA-4FF8-A2E9-7CB99B28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3C1FD-DF32-4A60-9908-E1A3315E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E99CB-9EE3-4F2E-B315-F4CF9DEF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38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หน้าแรกแสดงคำร้องที่นักเรียนยื่นแล้ว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24F48-C208-42D0-9C5E-9701E28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1F3D7-C54F-403E-B73F-904A5FC3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78EE3-92E1-4EA0-BD2F-11B072E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383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กด มอบหมายงาน เพื่อเปิดหน้าแยก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E3258-BEC7-4270-8455-7DDECB64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4C125-F574-4A0A-BBA5-526AC7DD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EBE49-7F9D-437D-A83C-2DC8D6B3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623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ระบุรายละเอียด กำหนดส่ง และไฟล์แนบ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9214B-69AF-41CD-A769-0244D147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D8446-8A5D-497B-B3CB-5B0C88ED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6BCDA-53A7-4602-804E-1EADB692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ยืนยันเมื่อนักเรียนนำงานมาส่ง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81944-575A-4796-9D61-1111434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56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3B7CB-C1C8-48CE-915E-DB5DB664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E9A80-6A90-45B8-9AD5-C76C4018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862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ระบุผลการเรียนใหม่และกดอนุมัติ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7F358-0C7F-4ABA-BA6E-640EBE98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B5BF3-D7D4-4E67-8EF6-B865D69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005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93FBE-26AF-4D9D-8484-C360E9FF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862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ส่งออกรายการคงค้างในรายวิชาของตน</a:t>
            </a:r>
          </a:p>
        </p:txBody>
      </p:sp>
    </p:spTree>
    <p:extLst>
      <p:ext uri="{BB962C8B-B14F-4D97-AF65-F5344CB8AC3E}">
        <p14:creationId xmlns:p14="http://schemas.microsoft.com/office/powerpoint/2010/main" val="1497441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78B5A-9C03-4C43-AB1C-ECE12B82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161E5-71BC-4C98-BB44-2B8360A1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D20F2-ED26-4A06-8FA5-C6DF35C8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0F629-42FE-4F4D-AF08-559FE07D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วิธีใช้งานของฝ่ายวิชาการ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D8153-5357-4527-A06B-30EF55BD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4E958-EEB4-4C5E-8B45-074C4F79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ฝ่ายวิชาการยืนยันผลขั้นสุดท้ายและดูแลข้อมูลเข้าออกของระบบ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9E6C3-D22C-4C36-B5F5-F2C9644C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9A4E4-BEB1-46E3-89ED-920FCB89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README.md:49,53-59; src/lib/domain.ts:88-89; supabase/migrations/001_initial.sql:66-79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1ECD5-4928-492E-A093-1B867593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738C3-028B-480C-9FBA-B30A3680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93370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6658C-37AB-4B74-83B2-48A0262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ฝ่ายวิชาการ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4413D-80F5-4A92-BB51-95A2321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4B7C9-4CDD-460C-B62D-62CF8D84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อนุมัติขั้นสุดท้าย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95E40-CE46-4CFD-B487-F1427225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4D1CA-2445-44EC-9AEF-27BFA366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นำเข้ารายการคงค้าง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D08D2-E8EE-4D89-AF5C-90993C40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60AED-64FF-4665-A021-B1F6BA4D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ส่งออกรายการสำเร็จ</a:t>
            </a:r>
          </a:p>
        </p:txBody>
      </p:sp>
    </p:spTree>
    <p:extLst>
      <p:ext uri="{BB962C8B-B14F-4D97-AF65-F5344CB8AC3E}">
        <p14:creationId xmlns:p14="http://schemas.microsoft.com/office/powerpoint/2010/main" val="2145403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6763E-3D57-489C-AF89-F42DF976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912FE-7456-478A-8144-E74FF177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E361E-2228-45D2-8147-DBC8630A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1672B-0712-49DA-A4AE-AB2F3BB4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วิธีใช้งานของผู้ดูแลระบบ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6E57A-4C07-4EB3-B9E3-348FC193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2FAA3-7D03-43CF-89AE-4E7CC7DD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ผู้ดูแลกำหนดช่วงเวลาให้บริการ แต่ไม่มีหน้าที่อนุมัติผลการเรียน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6996D-6848-4614-B2DF-6B12E60E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4B402-AED0-44E2-ABA0-A1034AB4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README.md:24,50-51; src/lib/domain.ts:79-89; supabase/migrations/001_initial.sql:49,83-90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5C447-956F-4EA2-89C5-CC5404EA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A015C-14EE-47BE-9CEA-BB363517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19050">
            <a:solidFill>
              <a:srgbClr val="B8801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43E4E-AF7B-41B9-9E87-C462AE15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384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801A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B8801A"/>
                </a:solidFill>
                <a:latin typeface="Tahoma"/>
                <a:ea typeface="Tahoma"/>
                <a:cs typeface="Tahoma"/>
              </a:rPr>
              <a:t>หน้าที่ของผู้ดูแล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53893-C2CC-408F-8464-75B1894A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กำหนดช่วงเวลาเปิดและปิด</a:t>
            </a:r>
          </a:p>
          <a:p xmlns:a="http://schemas.openxmlformats.org/drawingml/2006/main">
            <a:pPr algn="ctr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เพิ่มข้อความประกาศสำหรับผู้ใช้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3C1A8-239A-43AA-8940-1BD0A82E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9050">
            <a:solidFill>
              <a:srgbClr val="C265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9D5A4-2BC7-457B-A99E-5AE4AF21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2656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C2656F"/>
                </a:solidFill>
                <a:latin typeface="Tahoma"/>
                <a:ea typeface="Tahoma"/>
                <a:cs typeface="Tahoma"/>
              </a:rPr>
              <a:t>ไม่ใช่หน้าที่ของผู้ดูแล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35466-5562-4A0D-BF77-16E0DF0D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24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ดูหรือเปลี่ยนผลการเรียน</a:t>
            </a:r>
          </a:p>
          <a:p xmlns:a="http://schemas.openxmlformats.org/drawingml/2006/main">
            <a:pPr algn="ctr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อนุมัติรายการแทนฝ่ายวิชาการ</a:t>
            </a:r>
          </a:p>
        </p:txBody>
      </p:sp>
    </p:spTree>
    <p:extLst>
      <p:ext uri="{BB962C8B-B14F-4D97-AF65-F5344CB8AC3E}">
        <p14:creationId xmlns:p14="http://schemas.microsoft.com/office/powerpoint/2010/main" val="363620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4120A-CFCF-437F-9E43-A885077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53E9B-A441-45E1-8D7F-29B663D0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BCD64-F551-4F1C-840B-35C301E4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34773-DAB3-48EB-BF47-42A69649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การนำเข้าข้อมูล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6A74D-A5A4-48A1-BD06-F523AF10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7A1E5-4592-4DD7-90C4-61FF6807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ฝ่ายวิชาการนำเข้าข้อมูลที่จำเป็น 11 คอลัมน์ พร้อมตรวจความครบถ้วนก่อนยืนยัน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AAF57-C5E9-4A6F-8040-15096854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32D5F-1ABB-4CA5-A5BE-30299CA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README.md:53-57; src/lib/import.ts:2-81; src/lib/import-excel.ts:4-26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717FC-DF50-4BCA-93B7-F1B65AC7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22B84-14F8-4099-8C9F-4B9C129B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475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03252-CB53-41CB-994A-478F83C9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575" y="2762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72708-464A-4BE8-97BB-44A5E77E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675" y="2914650"/>
            <a:ext cx="313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B85BE-CB31-42C8-8EC8-B4C2CD6A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38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เตรียมไฟล์</a:t>
            </a:r>
          </a:p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11 คอลัมน์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6DB08-DBD2-4E0D-B689-DC13704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33A24-E1FB-4791-8BAC-9273A2D5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62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D225B-EF1A-4FC6-9DFD-F8CA6FCF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14650"/>
            <a:ext cx="3136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AD267-F30E-4374-9AFA-A99683C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3314700"/>
            <a:ext cx="338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ตรวจข้อมูล</a:t>
            </a:r>
          </a:p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ทุกแถว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47705-9DA6-448A-8396-7BC56EBD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675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442EA-C676-4DB9-A622-992BBB69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775" y="2762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55D20-E5DF-4A55-B06B-746988A9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314700"/>
            <a:ext cx="338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ยืนยันผล</a:t>
            </a:r>
          </a:p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การนำเข้า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20B22-C770-4FF2-B480-F43E6D3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01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รองรับ XLSX, CSV และ TSV  •  สูงสุด 5 MB  •  2,000 แถว</a:t>
            </a:r>
          </a:p>
        </p:txBody>
      </p:sp>
    </p:spTree>
    <p:extLst>
      <p:ext uri="{BB962C8B-B14F-4D97-AF65-F5344CB8AC3E}">
        <p14:creationId xmlns:p14="http://schemas.microsoft.com/office/powerpoint/2010/main" val="10628763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60D04-F0BB-4B00-935A-1530A6A0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42462-A5FD-4C81-93CE-985286E1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B14EE-2B44-44F6-8DE0-F780DFA1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617A9-C884-407D-BBC4-D567348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การส่งออกและประวัติ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83103-455C-4F58-9EB7-0220BF20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2BFD1-D688-4394-8DB7-B31989F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ครูและฝ่ายวิชาการส่งออกรายงานคนละขอบเขตตามหน้าที่ของตน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8257B-359A-444D-BDDC-3E941D40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BA3B0-5F72-4038-A9EC-88C4A9EF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README.md:48-49,59; src/lib/domain.ts:98-101; tests/domain.test.ts:29-33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EB360-1211-4BD2-B157-8B1FF0A2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BA46C-0B5C-4EE9-8A98-D635A984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53C41-E794-4DD0-AAF1-38360D66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ครู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3AF9E-0B93-4F9B-8365-9D9BF27C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รายการคงค้าง</a:t>
            </a:r>
          </a:p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ในรายวิชาที่รับผิดชอบ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20604-F8DA-465D-9AB7-F603556D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24946-AB89-44D1-B0B2-4FBA066B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ฝ่ายวิชาการ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EBBAE-DCFE-4418-ADF9-71C0132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รายการที่แก้ไข</a:t>
            </a:r>
          </a:p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สำเร็จแล้ว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B212C-5EF4-4C87-8220-C54041D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26585-06CD-429E-85E9-3B6B935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C4BA1-5888-44B5-B1D1-1784EB69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ประวัติรายการ</a:t>
            </a:r>
          </a:p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ของตนเอง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82CF8-2C44-4D49-A91C-01A9ACFC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289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B76AF-7298-4E6B-BDE8-6AB2095D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289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</p:spTree>
    <p:extLst>
      <p:ext uri="{BB962C8B-B14F-4D97-AF65-F5344CB8AC3E}">
        <p14:creationId xmlns:p14="http://schemas.microsoft.com/office/powerpoint/2010/main" val="16236519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0A6D9-F4AE-4187-A661-F3581F0B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AC32B-AC5F-48A4-9EAA-6426A260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BD52D-F5A6-4A70-BE97-3A3889F9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B3472-2021-483F-AC7B-2B94A6F2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ไฟล์แนบในงานที่ครูมอบหมาย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2752A-2B84-4605-B078-EB41B62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EE0CA-55C6-481B-B739-B23FED2E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ครูแนบเอกสารประกอบกับงาน และนักเรียนเปิดดูจากหน้ารายละเอียดงาน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32E64-B661-4FBF-BA34-B06485CC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A1DD5-0890-4E6B-9262-194959B5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src/components/assignment-actions.tsx:76-105; src/app/actions.ts:106-176; src/app/dashboard/assignments/[id]/page.tsx:34-48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39FA2-97B4-49B8-A6F6-A474B32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4D147-CF36-4FC1-A179-23334A01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3" y="2762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1121E-5DAB-49A2-9847-2F83988F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2838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FB2C4-6150-4E08-A845-D2447802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2990850"/>
            <a:ext cx="2238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D76F1-FEC0-4016-B30D-A7BA1F29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48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ครูเตรียมงาน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9210E-88F7-4FEF-9512-A8F85439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88" y="2762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71636-0384-4D0C-8F5C-969F9669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888" y="2838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01A5B-FD27-496F-BF9E-0A8A37FE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988" y="2990850"/>
            <a:ext cx="2238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9CA8B-88D0-41E4-BB80-76A4D404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90900"/>
            <a:ext cx="248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แนบเอกสาร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59F51-131D-4CF3-8E43-5B8758B3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363" y="2762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3E727-E52A-48AD-8B5B-55B8BFFD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63" y="2838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91E3E-D0C6-4DF1-9F15-327506A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2990850"/>
            <a:ext cx="2238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A1BF9-5755-49D1-B73D-F9EA345C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90900"/>
            <a:ext cx="248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นักเรียนเปิดรายละเอียด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81080-E5C8-483E-985F-4B80D17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2762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4A7FB-EAD5-4D88-A159-C2FE2ABF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2838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B8897-2D56-408C-8882-965D0B0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90900"/>
            <a:ext cx="2486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ดาวน์โหลดไฟล์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A2ABB-2F01-47FC-8237-04A3123C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244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สูงสุด 5 ไฟล์  •  รวมไม่เกิน 4 MB  •  PDF, Office, JPG, PNG, TXT</a:t>
            </a:r>
          </a:p>
        </p:txBody>
      </p:sp>
    </p:spTree>
    <p:extLst>
      <p:ext uri="{BB962C8B-B14F-4D97-AF65-F5344CB8AC3E}">
        <p14:creationId xmlns:p14="http://schemas.microsoft.com/office/powerpoint/2010/main" val="15924991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196E3-E2DA-422B-A685-46CB2DC8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CD92F-B493-4A53-AC61-8FB71298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1DAF-9261-43B0-AADA-C1E1380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4A6E5-D7E2-4403-B83A-E0DA2984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กติกาการทำงานร่วมกัน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4FE05-FA68-4D5E-9C7B-BE5248C7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60D4B-7F10-4E21-8604-1E9EA890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แต่ละบทบาทเห็นและดำเนินการเฉพาะส่วนที่รับผิดชอบ พร้อมส่งต่องานตามลำดับ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F8349-BD61-4C6C-9089-E5F1549A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3501A-F6B8-4A34-BBA8-E085CC09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README.md:26-28,61-69; supabase/migrations/001_initial.sql:40-80; src/proxy.ts:14-33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4DD1D-5B8D-409E-90CA-AF5CBFBA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ED35D-6912-4236-A723-7EAF2A7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BFC"/>
          </a:solidFill>
          <a:ln xmlns:a="http://schemas.openxmlformats.org/drawingml/2006/main" w="19050">
            <a:solidFill>
              <a:srgbClr val="713C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7D4AC-86E9-49CC-BF45-A3BE383F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9090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รายการผลการเรียน</a:t>
            </a:r>
          </a:p>
          <a:p xmlns:a="http://schemas.openxmlformats.org/drawingml/2006/main">
            <a:pPr algn="ctr">
              <a:defRPr sz="17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คงค้าง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AC7BE-5754-4FEE-9429-3D3972E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AA9E1-D109-41CE-823E-CA69E4C6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รายการของตน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F7929-B775-407B-B102-40EF1BAA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726CC-43A9-49C8-B6C4-E47F404B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ครู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รายวิชาของตน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BE823-BADE-4D3B-A6C4-37A1D10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A65A3-6422-4425-ACD5-F493760F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ฝ่ายวิชาการ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อนุมัติขั้นสุดท้าย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58BBE-4E25-431E-9588-9E10223B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F13D4-8C08-420E-996B-C1702958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57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ผู้ดูแล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กำหนดเวลา</a:t>
            </a:r>
          </a:p>
        </p:txBody>
      </p:sp>
    </p:spTree>
    <p:extLst>
      <p:ext uri="{BB962C8B-B14F-4D97-AF65-F5344CB8AC3E}">
        <p14:creationId xmlns:p14="http://schemas.microsoft.com/office/powerpoint/2010/main" val="1828630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F8A86-71EC-44D8-9EAC-3E000A90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5ACB6-2C5E-484E-B5C0-2FC79E71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MAIN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D5B32-181F-4FD4-98DC-F30DB2DC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BD40F-060E-432A-A713-88A595E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ความพร้อมสำหรับการทดลองใช้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E3CAD-6D45-4BAD-BE41-0A4D41AF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19D0D-C179-47A3-891C-A8AA0FC8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ขั้นตอนหลักมีตัวอย่างให้ทดลองครบ แต่ยังต้องตรวจสอบกับผู้ใช้จริงก่อนเปิดเต็มรูปแบบ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74735-D801-42C9-A5EF-7B3CD15B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2B315-AB38-4A1C-BD52-DCA1A477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VERIFICATION.md:1-24; README.md:70-71,84-90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52E34-5F30-4BD7-904D-8E030AD0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49391-BD01-4991-9968-F9C947D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พร้อมสำหรับการทดลอง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FDA62-40B9-458B-8584-97D28DA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1FFA2-241D-4ED7-8F38-297A105E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9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มีโหมดทดลองตั้งแต่ยื่นคำร้องถึงประวัติ 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34C42-8833-4594-B772-8089A4B1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34E9B-ECAB-4CA1-B8FE-8DBAC98B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90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มีตัวอย่างรายการครบ 4 บทบาท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D1D04-F4DB-4DD6-ACC8-880B5299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387F5-7FD6-4ECF-B647-40561138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719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หน้าจอรองรับโทรศัพท์และคอมพิวเตอร์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D2175-BF26-46FA-B2E9-AE6F1128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24306-0864-4DB3-9E4B-425CC56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มีการตรวจขั้นตอนนำเข้าและส่งออกรายงาน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786C0-CD02-4F78-B74D-EFCF5353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9525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D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656DD-9FB1-439B-8CD1-DE5B3546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05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656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C2656F"/>
                </a:solidFill>
                <a:latin typeface="Tahoma"/>
                <a:ea typeface="Tahoma"/>
                <a:cs typeface="Tahoma"/>
              </a:rPr>
              <a:t>ยังต้องดำเนินการ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20A23-9F3E-4803-8B85-D4308EE9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ยังไม่ได้ทดสอบบัญชีจริงของนักเรียน ครู และฝ่ายวิชาการ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4B581-3B19-4492-A35A-E437A6FC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815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ควรทดลองกับตัวแทนครบทั้ง 4 บทบาท</a:t>
            </a:r>
          </a:p>
        </p:txBody>
      </p:sp>
    </p:spTree>
    <p:extLst>
      <p:ext uri="{BB962C8B-B14F-4D97-AF65-F5344CB8AC3E}">
        <p14:creationId xmlns:p14="http://schemas.microsoft.com/office/powerpoint/2010/main" val="15928422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BBCBC1-24CD-49A9-BDCB-8E1D34C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4EA89-E9BD-4C6B-848C-7FEDF798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CASE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DBCF2-A11C-4BB3-8C52-BABFFF9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4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0EC96-0063-4FEE-BD97-6B3F8E41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ตัวอย่างรายการที่จบครบ 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67BF5-C4A1-4085-A9CE-7578287E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9C027-730A-4905-A9F8-74292833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ข้อมูลสมมติแสดงการส่งต่องานตั้งแต่คำร้องจนฝ่ายวิชาการอนุมัติ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181DE-6287-4E15-A71B-5BEAEB1B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FEEA1-1B30-4BBB-BA22-81946F1F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src/lib/demo.ts:2-31,38-89; README.md:70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23AB0-B54A-4310-8C4E-F06EC14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0F775-CD7D-472C-BC2D-5D7D6AD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140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CD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09CB7-BC24-4DF1-9875-B21DD9A1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78456-1A84-46F5-9C73-4A48665A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97CC5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397CC5"/>
                </a:solidFill>
                <a:latin typeface="Tahoma"/>
                <a:ea typeface="Tahoma"/>
                <a:cs typeface="Tahoma"/>
              </a:rPr>
              <a:t>10 ก.ย.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980BF-704B-435F-A5F6-88E9BFF2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E9F1D-648C-46ED-BF24-D31CDBF2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ยื่นคำร้อง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78887-AEE9-4722-B516-2C1E278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9950"/>
            <a:ext cx="140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CD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DC59F-F74B-457C-8846-6A9DD93B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9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2F6CD-BA05-48F4-8AFF-C23F6D12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12 ก.ย.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93737-DD84-49C8-A50C-7A31D204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38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B41DB-DD6E-4B45-A8B4-AE178A9E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195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9428F-A577-4FEF-8BB4-6C2DC229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9950"/>
            <a:ext cx="140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CD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C5DD5-DE54-4927-BAE7-38B2F5A7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F846B-2326-4C8C-9E07-71CD965E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8801A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B8801A"/>
                </a:solidFill>
                <a:latin typeface="Tahoma"/>
                <a:ea typeface="Tahoma"/>
                <a:cs typeface="Tahoma"/>
              </a:rPr>
              <a:t>14 ก.ย.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2F845C-C813-485C-AAF9-3F3D74A8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38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77864-B354-4699-A87E-05CC075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195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รับงาน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63E4D-2F3E-421F-88F2-4D79B5B0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140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CD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A0524-66A3-4A40-8A71-62D3DCF5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15815-CE8A-471F-A1DE-239344B1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15 ก.ย.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4E3204-36FE-414A-A6B7-2A2C6BF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C41A1-595C-42AC-989E-C0420283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95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ครูอนุมัติ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F2FDE7-4BC9-4579-AFF4-E9A7EB7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9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23A56A-80D2-45DF-9404-A3A0B1F5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16 ก.ย.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AEAB4-57F4-4513-8B90-E439088B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38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B10A4-A8EC-4C5F-A43D-AAAD6FA6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95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วิชาการอนุมัติ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CF9E1-AF88-487C-A5C3-8ABF5A73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ข้อมูลสมมติ: กิตติพัฒน์ ใจดี  •  พ31101  •  ผลเดิม 0  •  ผลใหม่ 1</a:t>
            </a:r>
          </a:p>
        </p:txBody>
      </p:sp>
    </p:spTree>
    <p:extLst>
      <p:ext uri="{BB962C8B-B14F-4D97-AF65-F5344CB8AC3E}">
        <p14:creationId xmlns:p14="http://schemas.microsoft.com/office/powerpoint/2010/main" val="807571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91860-FA1E-4B97-A637-B3F9EB83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6B04A-0CBF-4B77-88A4-9D0BC8AC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CASE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0668F-F942-45F4-8BE7-5DDC0008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A2499-A6EE-4608-B5B6-69898AA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ตัวอย่างการเตรียมข้อมูลนำเข้า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E8F9E-EE5C-413E-86FA-3023E6A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6F97E-E2F9-402B-80F9-595CAA35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ระบบเลือกเฉพาะข้อมูลที่จำเป็นและคงรูปแบบรหัสนักเรียนไว้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6F24C-F592-4565-939E-09127116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C5B6C-40CE-4927-A1EE-15E4CE26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tests/domain.test.ts:34-56; src/lib/import.ts:2-14; VERIFICATION.md:9-10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C2F9F-07CE-4418-A49A-94AF36BC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C63F8-FE9B-42AD-AABB-9CA012C2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ไฟล์ตัวอย่าง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7782F-FEE1-45CA-9C6E-BD193A52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รหัสนักเรียน 00123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รวม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Q1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คอลัมน์อื่นในไฟล์ต้นทาง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0E59E-1FB7-475C-8806-B50CB05A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62200"/>
            <a:ext cx="9525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D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0A5CC-B8BD-4DA2-B885-C2330DF4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ข้อมูลที่นำเข้า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35EC2-D3C3-464E-A80E-2FABED2B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รหัสนักเรียน 00123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เฉพาะ 11 คอลัมน์ที่กำหนด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คงเลขศูนย์นำหน้า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ไม่รวมคอลัมน์ที่ไม่จำเป็น</a:t>
            </a:r>
          </a:p>
        </p:txBody>
      </p:sp>
    </p:spTree>
    <p:extLst>
      <p:ext uri="{BB962C8B-B14F-4D97-AF65-F5344CB8AC3E}">
        <p14:creationId xmlns:p14="http://schemas.microsoft.com/office/powerpoint/2010/main" val="14056652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2F257-E6E3-41D6-B777-49E756D7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4DBEC-B864-4615-B843-47C3FD5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CASE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60803-4383-4B60-92A0-57970A66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2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06B8A-F990-457B-B488-2F2B02CC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หลักฐานจากการใช้งานจริง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707FC-6231-485B-9747-302D3AC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69957-0424-4453-8775-DAF6D729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โปรเจ็กต์มีตัวอย่างขั้นตอน แต่ยังไม่มีกรณีศึกษาจากผู้ใช้จริงให้สรุปผลลัพธ์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4FF27-0926-4F3B-B72E-54354775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09924-6E62-4891-A096-4564D32C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VERIFICATION.md:3-24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401D6-C6A8-499B-A3B5-D6CCE46E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EA1CF-07F4-4433-BCAA-75AD8D7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มีข้อมูลในเอกสาร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8D035-5AC2-412C-8DC4-E2984BC1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ตัวอย่างขั้นตอนครบจนอนุมัติ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ตัวอย่างหน้าจอครบ 4 บทบาท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72755-A00B-4345-B0CA-BB2788FA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43150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D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8886B-DC17-40CE-9716-5DAA05C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656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C2656F"/>
                </a:solidFill>
                <a:latin typeface="Tahoma"/>
                <a:ea typeface="Tahoma"/>
                <a:cs typeface="Tahoma"/>
              </a:rPr>
              <a:t>ไม่มีข้อมูลในเอกสาร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7B347-5F69-42D6-ABFA-AC73BD37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การใช้งานจริงของนักเรียน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การใช้งานจริงของครูและฝ่ายวิชาการ</a:t>
            </a:r>
          </a:p>
          <a:p xmlns:a="http://schemas.openxmlformats.org/drawingml/2006/main">
            <a:pPr algn="l">
              <a:defRPr sz="1500" b="0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ผลต่อเวลา งานค้าง หรือคุณภาพข้อมูล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836530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CD31C-7A1E-4793-993A-41E852E5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0E62D-7F00-4D09-83D7-5B184BD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3AA37-3AA6-4CE6-A492-918A9B9C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3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F9540-0381-430C-9257-F87823C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ภาพรวมการทำงานของ 4 บทบาท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93A2E-4871-4F2A-AABC-EF0599A2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DD257-4350-4FB0-988F-E4F10BCB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สถานะของรายการทำให้ทุกบทบาทรู้ว่าใครต้องทำอะไรต่อ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6D48A-5872-408D-86D0-17A435D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E87AC-4591-4A52-BE19-771E188A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README.md:43-69; src/lib/domain.ts:64-89; supabase/migrations/001_initial.sql:45-80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7CEF2-A0D8-4E2E-8613-A4E269D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66B72-60FA-46AB-AF92-B8BD54EE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19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C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47A24-1390-484D-93B1-CFB5C043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นักเรียน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62EF0-255F-4901-ACB7-1EB4FC76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ยื่นคำร้อง</a:t>
            </a:r>
          </a:p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ติดตามสถานะ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D94E3-68C3-404B-9965-09F68CD9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47975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60A32-A650-47B6-B49F-6AD557A6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419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E4A70-7FFF-4D7E-8CCD-A5A777AE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ครู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C1594-AADB-4AEB-B09D-37EA0904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4805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มอบหมาย</a:t>
            </a:r>
          </a:p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รับงาน  อนุมัติ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B666F-D256-444C-8E78-A7BA87A9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47975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91B1D-5E3C-4C59-A14B-268C1335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419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18063-CCC7-496E-A2E0-23087894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ฝ่ายวิชาการ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44A44-5238-46CB-98EC-C0AF2833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ตรวจผล</a:t>
            </a:r>
          </a:p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ปิดรายการ 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B5C90-A8F2-4DCD-B606-E78A32E9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47975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CD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73B68-C5C9-470C-AD92-A1374298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419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8801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8A80C-6E7E-4AF0-A00A-C29CC40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ผู้ดูแล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BB29A-3122-4785-8795-FA6691F7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กำหนดช่วงเวลา</a:t>
            </a:r>
          </a:p>
          <a:p xmlns:a="http://schemas.openxmlformats.org/drawingml/2006/main">
            <a:pPr algn="ctr">
              <a:defRPr sz="1425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เปิดและปิด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C8AD0-58EF-42EC-9C8C-3B374113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นำเข้าและส่งออกสนับสนุนงานข้อมูลของฝ่ายวิชาการ</a:t>
            </a:r>
          </a:p>
        </p:txBody>
      </p:sp>
    </p:spTree>
    <p:extLst>
      <p:ext uri="{BB962C8B-B14F-4D97-AF65-F5344CB8AC3E}">
        <p14:creationId xmlns:p14="http://schemas.microsoft.com/office/powerpoint/2010/main" val="12825802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BF9DC-C821-424B-8AF2-C1ADA634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325A8-0589-4782-98F1-9D9D2185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7B721-FA2E-4C79-A40E-9FA54231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4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F1DC4-3DF3-4BD5-84F2-BCC8247B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สิ่งที่ต้องทำก่อนเปิดใช้งานจริง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2FEE4-52D9-4C96-AF65-D8F2D83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8A7CC-014D-4CC0-88CD-0940E806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06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0206F"/>
                </a:solidFill>
                <a:latin typeface="Tahoma"/>
                <a:ea typeface="Tahoma"/>
                <a:cs typeface="Tahoma"/>
              </a:rPr>
              <a:t>โรงเรียนต้องกำหนดเจ้าของงาน เตรียมข้อมูลผู้ใช้ และทดลองกระบวนงานครบทั้ง 4 บทบาท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2FADD-58D0-43BE-B3B4-0D479420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D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4DB62-8338-4EC5-94EE-4CB852B0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04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F637A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F637A"/>
                </a:solidFill>
                <a:latin typeface="Tahoma"/>
                <a:ea typeface="Tahoma"/>
                <a:cs typeface="Tahoma"/>
              </a:rPr>
              <a:t>ที่มา: README.md:5-15,26-28,41,70-71; VERIFICATION.md:18-24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B66A3-8FEB-47D1-B109-06CB8B5A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8C47D-311D-4806-9AC7-3E7B986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A50AA-0C60-4FC9-94A5-344361E6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AD883-A860-4FE5-8969-7F8B8A8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ตรวจรายชื่อนักเรียน ครู และฝ่ายวิชาการ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51ABD-A6A5-4587-971B-9DF3D3EC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7647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B8981-5995-4124-9297-41C988A9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5DB87-C990-4E60-AD46-6247A127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เตรียมข้อมูลผลคงค้างตาม 11 คอลัมน์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25F76-7D61-4820-96E2-B9A26E7F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C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F65AB-2B44-486E-A68F-B5EDF1E9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3CD1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713CD1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1C3B5-7234-4CE5-939F-7CE6680D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528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กำหนดช่วงเวลาเปิดและปิดระบบ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4ACC7-3145-483F-9E5E-2372F7CD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8B5D1-1DEC-4DA1-B7F6-2DB9EB8D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95403-05D6-433B-9683-6C7AEF1F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ทดลองใช้งานด้วยบัญชีจริงครบ 4 บทบาท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EE686-A56B-4A8B-B3B5-98277697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9C671-6C1A-4AD7-9799-90E0A034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41372-B22F-40EC-A937-8599E0F7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ตรวจขั้นตอนอนุมัติ รายงาน และกรณีข้อมูลผิดพลาด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69FF9-5B3D-4F3E-9A36-B5F6522B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86275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6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69DF6-D0B0-43E0-8AD0-D7C63CD4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57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66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6866D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8F888-CD11-48CB-9F4C-2D91605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577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1B2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241B2F"/>
                </a:solidFill>
                <a:latin typeface="Tahoma"/>
                <a:ea typeface="Tahoma"/>
                <a:cs typeface="Tahoma"/>
              </a:rPr>
              <a:t>กำหนดช่องทางแจ้งปัญหาและผู้ตัดสินใจ</a:t>
            </a:r>
          </a:p>
        </p:txBody>
      </p:sp>
    </p:spTree>
    <p:extLst>
      <p:ext uri="{BB962C8B-B14F-4D97-AF65-F5344CB8AC3E}">
        <p14:creationId xmlns:p14="http://schemas.microsoft.com/office/powerpoint/2010/main" val="1384486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2026-09-18T04:56:52.0120000Z</dcterms:created>
  <dcterms:modified xsi:type="dcterms:W3CDTF">2026-09-18T04:56:52.0120000Z</dcterms:modified>
</coreProperties>
</file>